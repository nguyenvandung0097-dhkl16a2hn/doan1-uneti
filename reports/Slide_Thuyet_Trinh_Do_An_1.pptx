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7E22"/>
                </a:solidFill>
              </a:defRPr>
            </a:pPr>
            <a:r>
              <a:t>KHOA KHOA HỌC ỨNG DỤNG - BỘ MÔN TOÁN &amp; KHOA HỌC DỮ LIỆU</a:t>
            </a:r>
          </a:p>
          <a:p>
            <a:br/>
            <a:pPr>
              <a:defRPr sz="2800" b="1">
                <a:solidFill>
                  <a:srgbClr val="FFFFFF"/>
                </a:solidFill>
              </a:defRPr>
            </a:pPr>
            <a:r>
              <a:t>BÁO CÁO THỰC HIỆN ĐỒ ÁN 1</a:t>
            </a:r>
          </a:p>
          <a:p>
            <a:pPr>
              <a:defRPr sz="2400" b="1">
                <a:solidFill>
                  <a:srgbClr val="F1C40F"/>
                </a:solidFill>
              </a:defRPr>
            </a:pPr>
            <a:r>
              <a:t>PHÂN TÍCH NHÂN KHẨU HỌC &amp; DỰ ĐOÁN MỨC THU NHẬP CÁ NHÂN</a:t>
            </a:r>
            <a:br/>
            <a:r>
              <a:t>(US ADULT CENSUS INCOME DATASET)</a:t>
            </a:r>
          </a:p>
          <a:p>
            <a:br/>
            <a:pPr>
              <a:defRPr sz="1600">
                <a:solidFill>
                  <a:srgbClr val="ECF0F1"/>
                </a:solidFill>
              </a:defRPr>
            </a:pPr>
            <a:r>
              <a:t>Nhóm thực hiện: Nhóm 1_2 - Lớp DHKL18A1HN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Thành viên: Đào Đoàn Huy Phúc, Mai Đức Nhân, Cao Nguyên Ngọc, Nguyễn Văn Dũng, Trịnh Phương Thùy</a:t>
            </a:r>
            <a:br/>
            <a:r>
              <a:t>Giảng viên hướng dẫn: ThS. Trần Chí Lê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Tổng quan &amp; Mục tiêu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700">
                <a:solidFill>
                  <a:srgbClr val="1F4E79"/>
                </a:solidFill>
              </a:defRPr>
            </a:pPr>
            <a:r>
              <a:t>•  Mục tiêu chính: 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    Phân tích mối quan hệ giữa các đặc điểm nhân khẩu học cá nhân và mức thu nhập; xây dựng mô hình Machine Learning dự đoán phân lớp thu nhập (&lt;=50K và &gt;50K).</a:t>
            </a:r>
            <a:br/>
          </a:p>
          <a:p>
            <a:pPr>
              <a:defRPr b="1" sz="1700">
                <a:solidFill>
                  <a:srgbClr val="1F4E79"/>
                </a:solidFill>
              </a:defRPr>
            </a:pPr>
            <a:r>
              <a:t>•  Tập dữ liệu US Adult Census: 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    32.561 quan sát với 14 biến giải thích (độ tuổi, học vấn, nghề nghiệp, hôn nhân, số giờ làm việc...) và biến mục tiêu Income.</a:t>
            </a:r>
            <a:br/>
          </a:p>
          <a:p>
            <a:pPr>
              <a:defRPr b="1" sz="1700">
                <a:solidFill>
                  <a:srgbClr val="1F4E79"/>
                </a:solidFill>
              </a:defRPr>
            </a:pPr>
            <a:r>
              <a:t>•  Quy trình thực hiện chuẩn khoa học: 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    Làm sạch dữ liệu -&gt; Trực quan hóa EDA đa chiều -&gt; Kiểm định Chi-square -&gt; Huấn luyện mô hình Logistic Regression &amp; Decision Tree -&gt; Đánh giá đa chỉ số.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Thu thập &amp; Tiền xử lý dữ liệu (Task 1 &amp; Task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2980B9"/>
                </a:solidFill>
              </a:defRPr>
            </a:pPr>
            <a:r>
              <a:t>✔ Xử lý trùng lặp: 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Phát hiện và loại bỏ 24 bản ghi trùng lặp (từ 32.561 xuống còn 32.537 dòng sạch).</a:t>
            </a:r>
            <a:br/>
          </a:p>
          <a:p>
            <a:pPr>
              <a:defRPr b="1" sz="1600">
                <a:solidFill>
                  <a:srgbClr val="2980B9"/>
                </a:solidFill>
              </a:defRPr>
            </a:pPr>
            <a:r>
              <a:t>✔ Xử lý giá trị thiếu (Missing Values ký hiệu '?'): 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Có 3 biến bị thiếu: workclass (1.836 mẫu), occupation (1.843 mẫu), native_country (582 mẫu). Áp dụng điền Mode (Most Frequent) theo đúng đề cương.</a:t>
            </a:r>
            <a:br/>
          </a:p>
          <a:p>
            <a:pPr>
              <a:defRPr b="1" sz="1600">
                <a:solidFill>
                  <a:srgbClr val="2980B9"/>
                </a:solidFill>
              </a:defRPr>
            </a:pPr>
            <a:r>
              <a:t>✔ Chuẩn hóa tên biến &amp; Kiểu dữ liệu: 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Chuyển toàn bộ tên cột về snake_case chuẩn Python/R (education.num -&gt; education_num, hours.per.week -&gt; hours_per_week).</a:t>
            </a:r>
            <a:br/>
          </a:p>
          <a:p>
            <a:pPr>
              <a:defRPr b="1" sz="1600">
                <a:solidFill>
                  <a:srgbClr val="2980B9"/>
                </a:solidFill>
              </a:defRPr>
            </a:pPr>
            <a:r>
              <a:t>✔ Mã hóa biến mục tiêu: 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Mã hóa Income: &lt;=50K -&gt; 0, &gt;50K -&gt; 1 (tỷ lệ 75,91% vs 24,09%).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Trực quan số lượng &amp; Tỷ lệ đơn (Task 3 - Ngọc)</a:t>
            </a:r>
          </a:p>
        </p:txBody>
      </p:sp>
      <p:pic>
        <p:nvPicPr>
          <p:cNvPr id="4" name="Picture 3" descr="fig1_income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029200" cy="4114800"/>
          </a:xfrm>
          <a:prstGeom prst="rect">
            <a:avLst/>
          </a:prstGeom>
        </p:spPr>
      </p:pic>
      <p:pic>
        <p:nvPicPr>
          <p:cNvPr id="5" name="Picture 4" descr="fig2_income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Insight: Bộ dữ liệu mất cân bằng nhãn (Imbalanced Classes) với tỷ lệ 3:1 (75.91% &lt;=50K vs 24.09% &gt;50K). Cần phân chia tầng Stratified Split khi huấn luyện Machine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Trực quan phân phối đơn biến &amp; Outliers (Task 4 - Dũng)</a:t>
            </a:r>
          </a:p>
        </p:txBody>
      </p:sp>
      <p:pic>
        <p:nvPicPr>
          <p:cNvPr id="4" name="Picture 3" descr="fig4_distribution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303520" cy="4389120"/>
          </a:xfrm>
          <a:prstGeom prst="rect">
            <a:avLst/>
          </a:prstGeom>
        </p:spPr>
      </p:pic>
      <p:pic>
        <p:nvPicPr>
          <p:cNvPr id="5" name="Picture 4" descr="fig5_distribution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4864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Insight (Dũng): Tuổi trung bình 38.6 (lệch phải); Giờ làm việc tập trung cao ở mốc 40h/tuần (27.67% outliers gồm người làm part-time và overtime &gt;40h); Capital Gain/Loss có độ lệch rất lớn (đa số = 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So sánh phân phối theo nhóm thu nhập (Task 5 - Phúc)</a:t>
            </a:r>
          </a:p>
        </p:txBody>
      </p:sp>
      <p:pic>
        <p:nvPicPr>
          <p:cNvPr id="4" name="Picture 3" descr="fig6_group_boxplots_by_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515600" cy="2560320"/>
          </a:xfrm>
          <a:prstGeom prst="rect">
            <a:avLst/>
          </a:prstGeom>
        </p:spPr>
      </p:pic>
      <p:pic>
        <p:nvPicPr>
          <p:cNvPr id="5" name="Picture 4" descr="fig7_group_violin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105156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Trực quan nhóm tỷ lệ lồng nhau (Task 6 - Dũng &amp; Ngọc)</a:t>
            </a:r>
          </a:p>
        </p:txBody>
      </p:sp>
      <p:pic>
        <p:nvPicPr>
          <p:cNvPr id="4" name="Picture 3" descr="fig8_nested_stacked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2C3E50"/>
                </a:solidFill>
              </a:defRPr>
            </a:pPr>
            <a:r>
              <a:t>★  Học vấn &amp; Giới tính: Trình độ cử nhân, thạc sĩ, tiến sĩ nâng vọt tỷ lệ đạt mức &gt;50K ở cả 2 giới.</a:t>
            </a:r>
            <a:br/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★  Học vấn &amp; Hôn nhân: Nhóm Đã kết hôn (Married) kết hợp học vấn cao đạt tỷ lệ thu nhập &gt;50K cao nhất toàn bộ dữ liệu (&gt;65%).</a:t>
            </a:r>
            <a:br/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★  Nghề nghiệp &amp; Giờ làm việc: Vị trí quản lý / điều hành làm thêm giờ (&gt;40h/tuần) có xác suất đạt &gt;50K vượt trội.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Ma trận tương quan đa biến (Task 7 - Phúc &amp; Dũng)</a:t>
            </a:r>
          </a:p>
        </p:txBody>
      </p:sp>
      <p:pic>
        <p:nvPicPr>
          <p:cNvPr id="4" name="Picture 3" descr="fig9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389120"/>
          </a:xfrm>
          <a:prstGeom prst="rect">
            <a:avLst/>
          </a:prstGeom>
        </p:spPr>
      </p:pic>
      <p:pic>
        <p:nvPicPr>
          <p:cNvPr id="5" name="Picture 4" descr="fig10_scatter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Education Num có tương quan dương mạnh nhất với thu nhập (r = +0.335), tiếp theo là Age (r = +0.234) và Hours per week (r = +0.230).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8. Kiểm định giả thuyết Chi-Square (Task 7 - Phúc &amp; Dũng)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Kiểm định tính độc lập giữa biến phân loại và biến mục tiêu Income (Mức ý nghĩa alpha = 0.05):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✔  Education x Income: Chi2 = 4428.40 | dof = 15 | p-value &lt; 0.0001 -&gt; Bác bỏ H0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✔  Sex x Income: Chi2 = 1516.54 | dof = 1 | p-value &lt; 0.0001 -&gt; Bác bỏ H0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✔  Occupation x Income: Chi2 = 3197.61 | dof = 13 | p-value &lt; 0.0001 -&gt; Bác bỏ H0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✔  Marital Status x Income: Chi2 = 6510.33 | dof = 6 | p-value &lt; 0.0001 -&gt; Bác bỏ H0</a:t>
            </a:r>
          </a:p>
          <a:p>
            <a:br/>
            <a:pPr>
              <a:defRPr sz="1500" b="1">
                <a:solidFill>
                  <a:srgbClr val="C0392B"/>
                </a:solidFill>
              </a:defRPr>
            </a:pPr>
            <a:r>
              <a:t>Kết luận thống kê: Toàn bộ các đặc trưng nhân khẩu học đều có tác động có ý nghĩa thống kê cực kỳ mạnh mẽ đối với khả năng đạt mức thu nhập cao của cá nhân.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9. Xây dựng mô hình Machine Learning (Task 8 - Phúc &amp; Ngọc)</a:t>
            </a:r>
          </a:p>
        </p:txBody>
      </p:sp>
      <p:pic>
        <p:nvPicPr>
          <p:cNvPr id="4" name="Picture 3" descr="fig11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3291840"/>
          </a:xfrm>
          <a:prstGeom prst="rect">
            <a:avLst/>
          </a:prstGeom>
        </p:spPr>
      </p:pic>
      <p:pic>
        <p:nvPicPr>
          <p:cNvPr id="5" name="Picture 4" descr="fig12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43891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846320"/>
            <a:ext cx="5943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Phân chia tập dữ liệu: 80% Train (26.029 mẫu) - 20% Test (6.508 mẫu) có Stratified Split.</a:t>
            </a:r>
            <a:br/>
            <a:r>
              <a:t>Chuẩn hóa StandardScaler cho biến số và One-Hot Encoding cho biến phân loại (41 đặc trưng).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10. So sánh hiệu năng mô hình &amp; Feature Importance (Task 8)</a:t>
            </a:r>
          </a:p>
        </p:txBody>
      </p:sp>
      <p:pic>
        <p:nvPicPr>
          <p:cNvPr id="4" name="Picture 3" descr="fig1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BẢNG SO SÁNH KẾT QUẢ:</a:t>
            </a:r>
          </a:p>
          <a:p>
            <a:br/>
            <a:pPr>
              <a:defRPr sz="1300">
                <a:solidFill>
                  <a:srgbClr val="2C3E50"/>
                </a:solidFill>
              </a:defRPr>
            </a:pPr>
            <a:r>
              <a:t>✔ Logistic Regression:</a:t>
            </a:r>
            <a:br/>
            <a:r>
              <a:t>   Accuracy: 85.22% | F1-Score: 66.22% | ROC-AUC: 0.8996</a:t>
            </a:r>
          </a:p>
          <a:p>
            <a:br/>
            <a:pPr>
              <a:defRPr sz="1300">
                <a:solidFill>
                  <a:srgbClr val="2C3E50"/>
                </a:solidFill>
              </a:defRPr>
            </a:pPr>
            <a:r>
              <a:t>✔ Decision Tree:</a:t>
            </a:r>
            <a:br/>
            <a:r>
              <a:t>   Accuracy: 85.48% | Precision: 79.30% | ROC-AUC: 0.8950</a:t>
            </a:r>
          </a:p>
          <a:p>
            <a:br/>
            <a:pPr>
              <a:defRPr sz="1300">
                <a:solidFill>
                  <a:srgbClr val="2C3E50"/>
                </a:solidFill>
              </a:defRPr>
            </a:pPr>
            <a:r>
              <a:t>✔ Top 3 đặc trưng quan trọng nhất:</a:t>
            </a:r>
            <a:br/>
            <a:r>
              <a:t>   1. Tình trạng hôn nhân (Married-civ-spouse)</a:t>
            </a:r>
            <a:br/>
            <a:r>
              <a:t>2. Số năm học vấn (Education Num)</a:t>
            </a:r>
            <a:br/>
            <a:r>
              <a:t>3. Thu nhập từ vốn (Capital Gain)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ĐỒ ÁN 1 - KHOA HỌC DỮ LIỆU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11. Bảng phân công nhiệm vụ &amp; 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PHÂN CÔNG CÔNG VIỆC TRONG NHÓM 1_2: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Trịnh Phương Thùy: Task 1 (Thu thập dữ liệu thô) &amp; Task 9 (Soạn thảo báo cáo)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Mai Đức Nhân: Task 2 (Làm sạch &amp; Imputation Mode) &amp; Task 9 (Tổng hợp báo cáo Word)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Cao Nguyên Ngọc: Task 3 (Trực quan số lượng &amp; tỷ lệ), Task 6 (Tỷ lệ lồng nhau), Task 8 (ML)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Nguyễn Văn Dũng: Task 4 (Phân phối đơn biến &amp; Outliers), Task 6 (Tỷ lệ lồng nhau), Task 7 (Chi-square)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Đào Đoàn Huy Phúc (Trưởng nhóm): Task 5 (So sánh nhóm), Task 7 (Chi-square), Task 8 (ML), Quản lý tiến độ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Cả nhóm: Task 10 (Rà soát toàn diện, tổng hợp mã nguồn &amp; báo cáo cuối kỳ)</a:t>
            </a:r>
          </a:p>
          <a:p>
            <a:br/>
            <a:pPr>
              <a:defRPr sz="2000" b="1">
                <a:solidFill>
                  <a:srgbClr val="E67E22"/>
                </a:solidFill>
              </a:defRPr>
            </a:pPr>
            <a:r>
              <a:t>CẢM ƠN THẦY VÀ CÁC BẠN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